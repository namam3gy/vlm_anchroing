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91695" cy="7315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1">
                <a:solidFill>
                  <a:srgbClr val="E8F0F4"/>
                </a:solidFill>
                <a:latin typeface="Calibri"/>
              </a:rPr>
              <a:t>EMNLP 2026 Research Update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1097280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Cross-Modal Anchoring Bias in VLMs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83280"/>
            <a:ext cx="109728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0" i="0">
                <a:solidFill>
                  <a:srgbClr val="E8F0F4"/>
                </a:solidFill>
                <a:latin typeface="Cambria"/>
              </a:rPr>
              <a:t>Mechanism + Mitigation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3949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E8F0F4"/>
                </a:solidFill>
                <a:latin typeface="Calibri"/>
              </a:rPr>
              <a:t>Phase 1 (behavioural) → Phase A (data-mining) → E1/E1b/E1d (mechanism) → E2 (encoder pilot) → E4 (mitigation)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E8F0F4"/>
                </a:solidFill>
                <a:latin typeface="Calibri"/>
              </a:rPr>
              <a:t>Park Taehyun · 2026-04-26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21295C"/>
                </a:solidFill>
                <a:latin typeface="Cambria"/>
              </a:rPr>
              <a:t>The phenomenon: cross-modal numerical anchoring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Calibri"/>
              </a:rPr>
              <a:t>Does an irrelevant rendered-digit image bias a VLM's numeric answer?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2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502920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25000"/>
              </a:lnSpc>
            </a:pPr>
            <a:r>
              <a:rPr sz="1400">
                <a:solidFill>
                  <a:srgbClr val="333333"/>
                </a:solidFill>
                <a:latin typeface="Calibri"/>
              </a:rPr>
              <a:t>•  Setup: numerical VQAv2 question + target image</a:t>
            </a:r>
          </a:p>
          <a:p>
            <a:pPr>
              <a:lnSpc>
                <a:spcPct val="125000"/>
              </a:lnSpc>
            </a:pPr>
            <a:r>
              <a:rPr sz="1400">
                <a:solidFill>
                  <a:srgbClr val="333333"/>
                </a:solidFill>
                <a:latin typeface="Calibri"/>
              </a:rPr>
              <a:t>•  We add a SECOND image — irrelevant to the question</a:t>
            </a:r>
          </a:p>
          <a:p>
            <a:pPr>
              <a:lnSpc>
                <a:spcPct val="125000"/>
              </a:lnSpc>
            </a:pPr>
            <a:r>
              <a:rPr sz="1400">
                <a:solidFill>
                  <a:srgbClr val="333333"/>
                </a:solidFill>
                <a:latin typeface="Calibri"/>
              </a:rPr>
              <a:t>•  Two flavours of the second image:</a:t>
            </a:r>
          </a:p>
          <a:p>
            <a:pPr lvl="1">
              <a:lnSpc>
                <a:spcPct val="125000"/>
              </a:lnSpc>
            </a:pPr>
            <a:r>
              <a:rPr sz="1400">
                <a:solidFill>
                  <a:srgbClr val="333333"/>
                </a:solidFill>
                <a:latin typeface="Calibri"/>
              </a:rPr>
              <a:t>—  rendered digit ('the anchor')</a:t>
            </a:r>
          </a:p>
          <a:p>
            <a:pPr lvl="1">
              <a:lnSpc>
                <a:spcPct val="125000"/>
              </a:lnSpc>
            </a:pPr>
            <a:r>
              <a:rPr sz="1400">
                <a:solidFill>
                  <a:srgbClr val="333333"/>
                </a:solidFill>
                <a:latin typeface="Calibri"/>
              </a:rPr>
              <a:t>—  neutral texture (control for distraction)</a:t>
            </a:r>
          </a:p>
          <a:p>
            <a:pPr>
              <a:lnSpc>
                <a:spcPct val="125000"/>
              </a:lnSpc>
            </a:pPr>
            <a:r>
              <a:rPr sz="1400">
                <a:solidFill>
                  <a:srgbClr val="333333"/>
                </a:solidFill>
                <a:latin typeface="Calibri"/>
              </a:rPr>
              <a:t>•  If the anchor pulls the prediction more than neutral, anchoring is real</a:t>
            </a:r>
          </a:p>
          <a:p>
            <a:pPr>
              <a:lnSpc>
                <a:spcPct val="125000"/>
              </a:lnSpc>
            </a:pPr>
            <a:r>
              <a:rPr sz="1400">
                <a:solidFill>
                  <a:srgbClr val="333333"/>
                </a:solidFill>
                <a:latin typeface="Calibri"/>
              </a:rPr>
              <a:t>•  Closest neighbours: VLMBias (different setup), Typographic Attacks (classification flip not regression), LLM-anchoring (text-only)</a:t>
            </a:r>
          </a:p>
          <a:p>
            <a:pPr>
              <a:lnSpc>
                <a:spcPct val="125000"/>
              </a:lnSpc>
            </a:pPr>
            <a:r>
              <a:rPr sz="1400">
                <a:solidFill>
                  <a:srgbClr val="333333"/>
                </a:solidFill>
                <a:latin typeface="Calibri"/>
              </a:rPr>
              <a:t>•  Novelty: rendered-number image as cross-modal anchor on open numerical VQA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463040"/>
            <a:ext cx="5029200" cy="1417320"/>
          </a:xfrm>
          <a:prstGeom prst="rect">
            <a:avLst/>
          </a:prstGeom>
          <a:solidFill>
            <a:srgbClr val="E8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1463040"/>
            <a:ext cx="164592" cy="14173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160020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ambria"/>
              </a:rPr>
              <a:t>target_only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1965960"/>
            <a:ext cx="457200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Target image only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971800"/>
            <a:ext cx="5029200" cy="1417320"/>
          </a:xfrm>
          <a:prstGeom prst="rect">
            <a:avLst/>
          </a:prstGeom>
          <a:solidFill>
            <a:srgbClr val="E8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2971800"/>
            <a:ext cx="164592" cy="14173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310896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C7293"/>
                </a:solidFill>
                <a:latin typeface="Cambria"/>
              </a:rPr>
              <a:t>target + neutral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3474720"/>
            <a:ext cx="457200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Target + neutral (no digits)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4480560"/>
            <a:ext cx="5029200" cy="1417320"/>
          </a:xfrm>
          <a:prstGeom prst="rect">
            <a:avLst/>
          </a:prstGeom>
          <a:solidFill>
            <a:srgbClr val="E8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4480560"/>
            <a:ext cx="164592" cy="1417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461772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21295C"/>
                </a:solidFill>
                <a:latin typeface="Cambria"/>
              </a:rPr>
              <a:t>target + number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4983480"/>
            <a:ext cx="457200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Target + anchor digit (e.g. '7')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  <a:latin typeface="Calibri"/>
              </a:rPr>
              <a:t>Within-sample comparison: same model, same question, three image inputs.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21295C"/>
                </a:solidFill>
                <a:latin typeface="Cambria"/>
              </a:rPr>
              <a:t>Phase 1: H1 — anchoring exists across 7 VLMs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Calibri"/>
              </a:rPr>
              <a:t>Standard prompt, VQAv2 number subset, 17,730 paired records per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3 / 16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63040"/>
          <a:ext cx="73152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  <a:gridCol w="1463040"/>
                <a:gridCol w="1463040"/>
              </a:tblGrid>
              <a:tr h="40005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mbria"/>
                        </a:rPr>
                        <a:t>Model</a:t>
                      </a:r>
                    </a:p>
                  </a:txBody>
                  <a:tcPr marL="45720" marR="45720"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mbria"/>
                        </a:rPr>
                        <a:t>acc(target)</a:t>
                      </a:r>
                    </a:p>
                  </a:txBody>
                  <a:tcPr marL="45720" marR="45720"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mbria"/>
                        </a:rPr>
                        <a:t>adoption(num)</a:t>
                      </a:r>
                    </a:p>
                  </a:txBody>
                  <a:tcPr marL="45720" marR="45720"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mbria"/>
                        </a:rPr>
                        <a:t>moved-closer</a:t>
                      </a:r>
                    </a:p>
                  </a:txBody>
                  <a:tcPr marL="45720" marR="45720"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mbria"/>
                        </a:rPr>
                        <a:t>Δ moved-closer (W−C)</a:t>
                      </a:r>
                    </a:p>
                  </a:txBody>
                  <a:tcPr marL="45720" marR="45720">
                    <a:solidFill>
                      <a:srgbClr val="065A82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gemma4-e4b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0.553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0.123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0.247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1295C"/>
                          </a:solidFill>
                          <a:latin typeface="Calibri"/>
                        </a:rPr>
                        <a:t>+19.6 pp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gemma3-27b-it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0.628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0.141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0.162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1295C"/>
                          </a:solidFill>
                          <a:latin typeface="Calibri"/>
                        </a:rPr>
                        <a:t>+15.9 pp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qwen3-vl-30b-it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0.759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0.120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0.163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1295C"/>
                          </a:solidFill>
                          <a:latin typeface="Calibri"/>
                        </a:rPr>
                        <a:t>+12.2 pp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gemma4-31b-it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0.749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0.116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0.081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+8.4 pp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qwen3-vl-8b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0.751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0.127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0.100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+8.0 pp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llava-next-interleave-7b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0.619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0.133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0.163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+7.2 pp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qwen2.5-vl-7b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0.736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0.110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0.089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+6.9 pp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229600" y="1463040"/>
            <a:ext cx="3383280" cy="3200400"/>
          </a:xfrm>
          <a:prstGeom prst="rect">
            <a:avLst/>
          </a:prstGeom>
          <a:solidFill>
            <a:srgbClr val="E8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66760" y="155448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ambria"/>
              </a:rPr>
              <a:t>Headline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1920240"/>
            <a:ext cx="3200400" cy="2743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333333"/>
                </a:solidFill>
                <a:latin typeface="Calibri"/>
              </a:rPr>
              <a:t>•  adoption(num) ≈ 11–14 % across all models — anchor is occasionally copied</a:t>
            </a:r>
          </a:p>
          <a:p>
            <a:pPr>
              <a:lnSpc>
                <a:spcPct val="120000"/>
              </a:lnSpc>
            </a:pPr>
            <a:r>
              <a:rPr sz="1200">
                <a:solidFill>
                  <a:srgbClr val="333333"/>
                </a:solidFill>
                <a:latin typeface="Calibri"/>
              </a:rPr>
              <a:t>•  BUT moved-closer is 8–25 % — most pairs move TOWARD the anchor without copying</a:t>
            </a:r>
          </a:p>
          <a:p>
            <a:pPr>
              <a:lnSpc>
                <a:spcPct val="120000"/>
              </a:lnSpc>
            </a:pPr>
            <a:r>
              <a:rPr sz="1200">
                <a:solidFill>
                  <a:srgbClr val="333333"/>
                </a:solidFill>
                <a:latin typeface="Calibri"/>
              </a:rPr>
              <a:t>•  Bias is graded, not categorical capture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937760"/>
            <a:ext cx="10972800" cy="1554480"/>
          </a:xfrm>
          <a:prstGeom prst="rect">
            <a:avLst/>
          </a:prstGeom>
          <a:solidFill>
            <a:srgbClr val="E8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029200"/>
            <a:ext cx="1069848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 i="0">
                <a:solidFill>
                  <a:srgbClr val="065A82"/>
                </a:solidFill>
                <a:latin typeface="Calibri"/>
              </a:rPr>
              <a:t>Insight: 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Anchoring in VLMs is a soft regression-style pull, </a:t>
            </a:r>
            <a:r>
              <a:rPr sz="1600" b="0" i="1">
                <a:solidFill>
                  <a:srgbClr val="21295C"/>
                </a:solidFill>
                <a:latin typeface="Calibri"/>
              </a:rPr>
              <a:t>exactly what cognitive-science models predict.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486400"/>
            <a:ext cx="1069848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Counter-intuitive sub-finding: stronger models (qwen2.5-vl, qwen3-vl) anchor LESS on direction-follow than weaker ones (gemma4-e4b). Inverts Lou &amp; Sun (2024) 'stronger LLMs anchor more' from text-only LLM literature.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21295C"/>
                </a:solidFill>
                <a:latin typeface="Cambria"/>
              </a:rPr>
              <a:t>Phase A insight A1 — uncertainty modulates graded pull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Calibri"/>
              </a:rPr>
              <a:t>The strongest single hook for the paper. H2 refined.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4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5394960" cy="2377440"/>
          </a:xfrm>
          <a:prstGeom prst="rect">
            <a:avLst/>
          </a:prstGeom>
          <a:solidFill>
            <a:srgbClr val="E8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mbria"/>
              </a:rPr>
              <a:t>Categorical adoption gap (wrong − correct)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1965960"/>
          <a:ext cx="51206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</a:tblGrid>
              <a:tr h="2286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mbria"/>
                        </a:rPr>
                        <a:t>model</a:t>
                      </a:r>
                    </a:p>
                  </a:txBody>
                  <a:tcPr marL="45720" marR="45720"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mbria"/>
                        </a:rPr>
                        <a:t>Δ adoption (W−C)</a:t>
                      </a:r>
                    </a:p>
                  </a:txBody>
                  <a:tcPr marL="45720" marR="45720">
                    <a:solidFill>
                      <a:srgbClr val="065A82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gemma3-27b-it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+2.4 pp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qwen3-vl-30b-it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+0.5 pp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qwen3-vl-8b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+0.4 pp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gemma4-31b-it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−0.4 pp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gemma4-e4b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−1.1 pp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qwen2.5-vl-7b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−1.6 pp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llava-next-interleave-7b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−1.8 pp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7240" y="3886200"/>
            <a:ext cx="51206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C92A2A"/>
                </a:solidFill>
                <a:latin typeface="Calibri"/>
              </a:rPr>
              <a:t>→ ALL within ±2 pp. Falsifies categorical-capture H2.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463040"/>
            <a:ext cx="5394960" cy="2377440"/>
          </a:xfrm>
          <a:prstGeom prst="rect">
            <a:avLst/>
          </a:prstGeom>
          <a:solidFill>
            <a:srgbClr val="E8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554480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mbria"/>
              </a:rPr>
              <a:t>Graded moved-closer gap (wrong − correct)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537960" y="1965960"/>
          <a:ext cx="51206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</a:tblGrid>
              <a:tr h="2286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mbria"/>
                        </a:rPr>
                        <a:t>model</a:t>
                      </a:r>
                    </a:p>
                  </a:txBody>
                  <a:tcPr marL="45720" marR="45720"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mbria"/>
                        </a:rPr>
                        <a:t>Δ moved-closer (W−C)</a:t>
                      </a:r>
                    </a:p>
                  </a:txBody>
                  <a:tcPr marL="45720" marR="45720">
                    <a:solidFill>
                      <a:srgbClr val="065A82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gemma4-e4b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1295C"/>
                          </a:solidFill>
                          <a:latin typeface="Calibri"/>
                        </a:rPr>
                        <a:t>+19.6 pp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gemma3-27b-it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1295C"/>
                          </a:solidFill>
                          <a:latin typeface="Calibri"/>
                        </a:rPr>
                        <a:t>+15.9 pp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qwen3-vl-30b-it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1295C"/>
                          </a:solidFill>
                          <a:latin typeface="Calibri"/>
                        </a:rPr>
                        <a:t>+12.2 pp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gemma4-31b-it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+8.4 pp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qwen3-vl-8b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+8.0 pp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llava-next-interleave-7b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+7.2 pp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qwen2.5-vl-7b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+6.9 pp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537960" y="3886200"/>
            <a:ext cx="51206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2A7A3A"/>
                </a:solidFill>
                <a:latin typeface="Calibri"/>
              </a:rPr>
              <a:t>→ +6.9 to +19.6 pp on EVERY model. Holds 7/7.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572000"/>
            <a:ext cx="10972800" cy="18288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663440"/>
            <a:ext cx="10698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E8F0F4"/>
                </a:solidFill>
                <a:latin typeface="Cambria"/>
              </a:rPr>
              <a:t>Refined H2 (paper claim)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074920"/>
            <a:ext cx="1069848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25000"/>
              </a:lnSpc>
            </a:pPr>
            <a:r>
              <a:rPr sz="1300">
                <a:solidFill>
                  <a:srgbClr val="FFFFFF"/>
                </a:solidFill>
                <a:latin typeface="Calibri"/>
              </a:rPr>
              <a:t>•  When a VLM is uncertain (operationalised as 'originally wrong'), an irrelevant anchor digit drags the prediction TOWARD the anchor (+7 to +20 pp moved-closer rate), even though the rate of EXACTLY copying the anchor barely changes. The bias biases the search direction rather than replacing a confident estimate — Mussweiler-Strack selective-accessibility account.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21295C"/>
                </a:solidFill>
                <a:latin typeface="Cambria"/>
              </a:rPr>
              <a:t>Phase A insight A2 — anchor digits are not symmetric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Calibri"/>
              </a:rPr>
              <a:t>Some digits are stickier; LLaVA × anchor=2 is a typographic-attack outlier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5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548640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33333"/>
                </a:solidFill>
                <a:latin typeface="Calibri"/>
              </a:rPr>
              <a:t>•  Chance baseline (anchor == GT) ≈ 11 % per digit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333333"/>
                </a:solidFill>
                <a:latin typeface="Calibri"/>
              </a:rPr>
              <a:t>•  Universally STICKY: digits 1, 2, 4 above baseline on all models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333333"/>
                </a:solidFill>
                <a:latin typeface="Calibri"/>
              </a:rPr>
              <a:t>•  Universally INERT: digits 7, 8 below baseline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333333"/>
                </a:solidFill>
                <a:latin typeface="Calibri"/>
              </a:rPr>
              <a:t>•  Notable outliers:</a:t>
            </a:r>
          </a:p>
          <a:p>
            <a:pPr lvl="1">
              <a:lnSpc>
                <a:spcPct val="120000"/>
              </a:lnSpc>
            </a:pPr>
            <a:r>
              <a:rPr sz="1300">
                <a:solidFill>
                  <a:srgbClr val="333333"/>
                </a:solidFill>
                <a:latin typeface="Calibri"/>
              </a:rPr>
              <a:t>—  LLaVA × anchor=2: adoption = 30 % (~3× chance) — typographic-attack-style capture</a:t>
            </a:r>
          </a:p>
          <a:p>
            <a:pPr lvl="1">
              <a:lnSpc>
                <a:spcPct val="120000"/>
              </a:lnSpc>
            </a:pPr>
            <a:r>
              <a:rPr sz="1300">
                <a:solidFill>
                  <a:srgbClr val="333333"/>
                </a:solidFill>
                <a:latin typeface="Calibri"/>
              </a:rPr>
              <a:t>—  Gemma3 × anchor=2: 17.2 %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333333"/>
                </a:solidFill>
                <a:latin typeface="Calibri"/>
              </a:rPr>
              <a:t>•  Anti-anchoring (rare):</a:t>
            </a:r>
          </a:p>
          <a:p>
            <a:pPr lvl="1">
              <a:lnSpc>
                <a:spcPct val="120000"/>
              </a:lnSpc>
            </a:pPr>
            <a:r>
              <a:rPr sz="1300">
                <a:solidFill>
                  <a:srgbClr val="333333"/>
                </a:solidFill>
                <a:latin typeface="Calibri"/>
              </a:rPr>
              <a:t>—  Qwen3-VL-30B × anchor=3: mean_pull = −4.24 (predictions actively REPELLED from anchor)</a:t>
            </a:r>
          </a:p>
          <a:p>
            <a:pPr lvl="1">
              <a:lnSpc>
                <a:spcPct val="120000"/>
              </a:lnSpc>
            </a:pPr>
            <a:r>
              <a:rPr sz="1300">
                <a:solidFill>
                  <a:srgbClr val="333333"/>
                </a:solidFill>
                <a:latin typeface="Calibri"/>
              </a:rPr>
              <a:t>—  Qwen3-VL-8B × anchor=6: mean_pull = −2.89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333333"/>
                </a:solidFill>
                <a:latin typeface="Calibri"/>
              </a:rPr>
              <a:t>•  Confound: VQAv2 GT distribution is right-skewed (1, 2, 3 over-represented). Chance-corrected re-analysis on the to-do list.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46304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mbria"/>
              </a:rPr>
              <a:t>Selected per-digit adoption (highlights)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92240" y="1874519"/>
          <a:ext cx="51206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6880"/>
                <a:gridCol w="1706880"/>
                <a:gridCol w="1706880"/>
              </a:tblGrid>
              <a:tr h="3429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mbria"/>
                        </a:rPr>
                        <a:t>model × anchor</a:t>
                      </a:r>
                    </a:p>
                  </a:txBody>
                  <a:tcPr marL="45720" marR="45720"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mbria"/>
                        </a:rPr>
                        <a:t>adoption</a:t>
                      </a:r>
                    </a:p>
                  </a:txBody>
                  <a:tcPr marL="45720" marR="45720"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mbria"/>
                        </a:rPr>
                        <a:t>tag</a:t>
                      </a:r>
                    </a:p>
                  </a:txBody>
                  <a:tcPr marL="45720" marR="45720">
                    <a:solidFill>
                      <a:srgbClr val="065A82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llava-interleave × anchor=2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1295C"/>
                          </a:solidFill>
                          <a:latin typeface="Calibri"/>
                        </a:rPr>
                        <a:t>0.300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outlier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gemma3 × anchor=2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0.172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llava-interleave × anchor=4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0.176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qwen3-vl-30b × anchor=1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0.151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gemma4-e4b × anchor=8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0.080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qwen3-vl-8b × anchor=8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0.065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gemma4-31b × anchor=8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0.065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92240" y="4754880"/>
            <a:ext cx="5120640" cy="1554480"/>
          </a:xfrm>
          <a:prstGeom prst="rect">
            <a:avLst/>
          </a:prstGeom>
          <a:solidFill>
            <a:srgbClr val="E8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4846320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  <a:latin typeface="Cambria"/>
              </a:rPr>
              <a:t>Open follow-up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5212080"/>
            <a:ext cx="493776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333333"/>
                </a:solidFill>
                <a:latin typeface="Calibri"/>
              </a:rPr>
              <a:t>Per-anchor pattern + anti-anchoring on Qwen3-VL is publication-worthy as a sub-finding but needs bootstrap CIs and chance-correction before the paper claim.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21295C"/>
                </a:solidFill>
                <a:latin typeface="Cambria"/>
              </a:rPr>
              <a:t>Phase A insight A7 — item susceptibility is partly content-driven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Calibri"/>
              </a:rPr>
              <a:t>Spearman ρ (per-question moved-closer rate) across 7-model panel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6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548640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33333"/>
                </a:solidFill>
                <a:latin typeface="Calibri"/>
              </a:rPr>
              <a:t>•  Per-question moved-closer rate, correlated across model pairs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333333"/>
                </a:solidFill>
                <a:latin typeface="Calibri"/>
              </a:rPr>
              <a:t>•  Cross-model Spearman ρ ranges 0.15 – 0.31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333333"/>
                </a:solidFill>
                <a:latin typeface="Calibri"/>
              </a:rPr>
              <a:t>•  Highest correlations:</a:t>
            </a:r>
          </a:p>
          <a:p>
            <a:pPr lvl="1">
              <a:lnSpc>
                <a:spcPct val="120000"/>
              </a:lnSpc>
            </a:pPr>
            <a:r>
              <a:rPr sz="1300">
                <a:solidFill>
                  <a:srgbClr val="333333"/>
                </a:solidFill>
                <a:latin typeface="Calibri"/>
              </a:rPr>
              <a:t>—  Qwen3-VL-30B ↔ Qwen3-VL-8B = 0.30 (same family)</a:t>
            </a:r>
          </a:p>
          <a:p>
            <a:pPr lvl="1">
              <a:lnSpc>
                <a:spcPct val="120000"/>
              </a:lnSpc>
            </a:pPr>
            <a:r>
              <a:rPr sz="1300">
                <a:solidFill>
                  <a:srgbClr val="333333"/>
                </a:solidFill>
                <a:latin typeface="Calibri"/>
              </a:rPr>
              <a:t>—  Gemma4-e4b ↔ Qwen3-VL-30B = 0.31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333333"/>
                </a:solidFill>
                <a:latin typeface="Calibri"/>
              </a:rPr>
              <a:t>•  Some questions are universally bias-susceptible; others are model-specific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333333"/>
                </a:solidFill>
                <a:latin typeface="Calibri"/>
              </a:rPr>
              <a:t>•  Mechanistic implication:</a:t>
            </a:r>
          </a:p>
          <a:p>
            <a:pPr lvl="1">
              <a:lnSpc>
                <a:spcPct val="120000"/>
              </a:lnSpc>
            </a:pPr>
            <a:r>
              <a:rPr sz="1300">
                <a:solidFill>
                  <a:srgbClr val="333333"/>
                </a:solidFill>
                <a:latin typeface="Calibri"/>
              </a:rPr>
              <a:t>—  Part of the bias lives in the visual encoder / content</a:t>
            </a:r>
          </a:p>
          <a:p>
            <a:pPr lvl="1">
              <a:lnSpc>
                <a:spcPct val="120000"/>
              </a:lnSpc>
            </a:pPr>
            <a:r>
              <a:rPr sz="1300">
                <a:solidFill>
                  <a:srgbClr val="333333"/>
                </a:solidFill>
                <a:latin typeface="Calibri"/>
              </a:rPr>
              <a:t>—  Part lives in the LLM head</a:t>
            </a:r>
          </a:p>
          <a:p>
            <a:pPr lvl="1">
              <a:lnSpc>
                <a:spcPct val="120000"/>
              </a:lnSpc>
            </a:pPr>
            <a:r>
              <a:rPr sz="1300">
                <a:solidFill>
                  <a:srgbClr val="333333"/>
                </a:solidFill>
                <a:latin typeface="Calibri"/>
              </a:rPr>
              <a:t>—  → predicts that an encoder ablation (E2) AND an attention analysis (E1) should both produce signal — schedule both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333333"/>
                </a:solidFill>
                <a:latin typeface="Calibri"/>
              </a:rPr>
              <a:t>•  A7 provides the bridge between Phase A (behaviour) and Phase B (mechanism)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463040"/>
            <a:ext cx="5212080" cy="2377440"/>
          </a:xfrm>
          <a:prstGeom prst="rect">
            <a:avLst/>
          </a:prstGeom>
          <a:solidFill>
            <a:srgbClr val="E8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55448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mbria"/>
              </a:rPr>
              <a:t>Top cross-model correlations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37960" y="1965960"/>
          <a:ext cx="5029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2286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mbria"/>
                        </a:rPr>
                        <a:t>pair</a:t>
                      </a:r>
                    </a:p>
                  </a:txBody>
                  <a:tcPr marL="45720" marR="45720"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mbria"/>
                        </a:rPr>
                        <a:t>ρ</a:t>
                      </a:r>
                    </a:p>
                  </a:txBody>
                  <a:tcPr marL="45720" marR="45720">
                    <a:solidFill>
                      <a:srgbClr val="065A82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gemma4-e4b ↔ qwen3-vl-30b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1295C"/>
                          </a:solidFill>
                          <a:latin typeface="Calibri"/>
                        </a:rPr>
                        <a:t>0.31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qwen3-vl-30b ↔ qwen3-vl-8b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1295C"/>
                          </a:solidFill>
                          <a:latin typeface="Calibri"/>
                        </a:rPr>
                        <a:t>0.30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gemma3-27b ↔ qwen3-vl-30b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0.27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llava ↔ qwen3-vl-8b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0.25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gemma3-27b ↔ gemma4-31b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0.20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qwen2.5-vl ↔ qwen3-vl-30b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0.18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floor (model-resistant pairs)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0.15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4754880"/>
            <a:ext cx="10972800" cy="155448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846320"/>
            <a:ext cx="10698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E8F0F4"/>
                </a:solidFill>
                <a:latin typeface="Cambria"/>
              </a:rPr>
              <a:t>Reading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212080"/>
            <a:ext cx="1069848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0.30 = same-family ceiling, NOT a perfect 1.0. So the encoder + training prior matters, but the question content also matters. Both are real, neither dominates. This refines the picture: anchoring is jointly determined by content susceptibility and model architecture.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21295C"/>
                </a:solidFill>
                <a:latin typeface="Cambria"/>
              </a:rPr>
              <a:t>E1 — anchor-image attention exceeds neutral on 4/4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Calibri"/>
              </a:rPr>
              <a:t>Mean attention(anchor) − attention(neutral) at the answer step, n=200 each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7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mbria"/>
              </a:rPr>
              <a:t>Answer-step Δ attention (anchor − neutral)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874519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mbria"/>
                        </a:rPr>
                        <a:t>model</a:t>
                      </a:r>
                    </a:p>
                  </a:txBody>
                  <a:tcPr marL="45720" marR="45720"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mbria"/>
                        </a:rPr>
                        <a:t>Δ attention</a:t>
                      </a:r>
                    </a:p>
                  </a:txBody>
                  <a:tcPr marL="45720" marR="45720"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mbria"/>
                        </a:rPr>
                        <a:t>95 % CI</a:t>
                      </a:r>
                    </a:p>
                  </a:txBody>
                  <a:tcPr marL="45720" marR="45720">
                    <a:solidFill>
                      <a:srgbClr val="065A8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gemma4-e4b (Gemma-SigLIP)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+0.00434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[+0.0024, +0.0064]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qwen2.5-vl-7b (Qwen-ViT)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+0.00525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[+0.0033, +0.0073]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llava-1.5-7b (CLIP-ViT)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+0.00559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[+0.0035, +0.0078]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internvl3-8b (InternViT)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+0.00670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[+0.0042, +0.0094]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400800" y="1463040"/>
            <a:ext cx="5212080" cy="4572000"/>
          </a:xfrm>
          <a:prstGeom prst="rect">
            <a:avLst/>
          </a:prstGeom>
          <a:solidFill>
            <a:srgbClr val="E8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55448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mbria"/>
              </a:rPr>
              <a:t>Three claims tested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965960"/>
            <a:ext cx="502920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333333"/>
                </a:solidFill>
                <a:latin typeface="Calibri"/>
              </a:rPr>
              <a:t>•  Claim 1: anchor &gt; neutral attention (correlational)</a:t>
            </a:r>
          </a:p>
          <a:p>
            <a:pPr lvl="1">
              <a:lnSpc>
                <a:spcPct val="120000"/>
              </a:lnSpc>
            </a:pPr>
            <a:r>
              <a:rPr sz="1200">
                <a:solidFill>
                  <a:srgbClr val="333333"/>
                </a:solidFill>
                <a:latin typeface="Calibri"/>
              </a:rPr>
              <a:t>—  ✅ 4/4, every CI excludes 0</a:t>
            </a:r>
          </a:p>
          <a:p>
            <a:pPr>
              <a:lnSpc>
                <a:spcPct val="120000"/>
              </a:lnSpc>
            </a:pPr>
            <a:r>
              <a:rPr sz="1200">
                <a:solidFill>
                  <a:srgbClr val="333333"/>
                </a:solidFill>
                <a:latin typeface="Calibri"/>
              </a:rPr>
              <a:t>•  Claim 2 (H2 mechanism): wrong &gt; correct attention</a:t>
            </a:r>
          </a:p>
          <a:p>
            <a:pPr lvl="1">
              <a:lnSpc>
                <a:spcPct val="120000"/>
              </a:lnSpc>
            </a:pPr>
            <a:r>
              <a:rPr sz="1200">
                <a:solidFill>
                  <a:srgbClr val="333333"/>
                </a:solidFill>
                <a:latin typeface="Calibri"/>
              </a:rPr>
              <a:t>—  ❌ Null on 4/4 — uncertainty does NOT modulate mean anchor attention. Attention 'notice' is robust; behavioural pull is what's modulated.</a:t>
            </a:r>
          </a:p>
          <a:p>
            <a:pPr>
              <a:lnSpc>
                <a:spcPct val="120000"/>
              </a:lnSpc>
            </a:pPr>
            <a:r>
              <a:rPr sz="1200">
                <a:solidFill>
                  <a:srgbClr val="333333"/>
                </a:solidFill>
                <a:latin typeface="Calibri"/>
              </a:rPr>
              <a:t>•  Claim 3 (A7 mechanism): susceptible &gt; resistant attention</a:t>
            </a:r>
          </a:p>
          <a:p>
            <a:pPr lvl="1">
              <a:lnSpc>
                <a:spcPct val="120000"/>
              </a:lnSpc>
            </a:pPr>
            <a:r>
              <a:rPr sz="1200">
                <a:solidFill>
                  <a:srgbClr val="333333"/>
                </a:solidFill>
                <a:latin typeface="Calibri"/>
              </a:rPr>
              <a:t>—  ✅ 3/4 (Qwen, LLaVA-1.5, InternVL3); INVERTS on Gemma (early/SigLIP) which encodes anchor at step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023360"/>
            <a:ext cx="548640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33333"/>
                </a:solidFill>
                <a:latin typeface="Calibri"/>
              </a:rPr>
              <a:t>Three-claim emerging structure for the paper:
  (a) anchor NOTICE (attention) is universal
  (b) anchor PULL (behaviour) is encoder-modulated
  (c) UNCERTAINTY modulates pull (Phase A) but not attention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21295C"/>
                </a:solidFill>
                <a:latin typeface="Cambria"/>
              </a:rPr>
              <a:t>E1b — per-layer localisation: 4 archetypes by encoder family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Calibri"/>
              </a:rPr>
              <a:t>Peak layer (where anchor attention concentrates) differs sharply by family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8 / 16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63040"/>
          <a:ext cx="73152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  <a:gridCol w="1463040"/>
                <a:gridCol w="146304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mbria"/>
                        </a:rPr>
                        <a:t>model (encoder)</a:t>
                      </a:r>
                    </a:p>
                  </a:txBody>
                  <a:tcPr marL="45720" marR="45720"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mbria"/>
                        </a:rPr>
                        <a:t>peak layer</a:t>
                      </a:r>
                    </a:p>
                  </a:txBody>
                  <a:tcPr marL="45720" marR="45720"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mbria"/>
                        </a:rPr>
                        <a:t>δ peak</a:t>
                      </a:r>
                    </a:p>
                  </a:txBody>
                  <a:tcPr marL="45720" marR="45720"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mbria"/>
                        </a:rPr>
                        <a:t>budget source</a:t>
                      </a:r>
                    </a:p>
                  </a:txBody>
                  <a:tcPr marL="45720" marR="45720"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mbria"/>
                        </a:rPr>
                        <a:t>archetype</a:t>
                      </a:r>
                    </a:p>
                  </a:txBody>
                  <a:tcPr marL="45720" marR="45720">
                    <a:solidFill>
                      <a:srgbClr val="065A8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Gemma-SigLIP (gemma4-e4b)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L5/42 (12 %)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+0.0501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text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early + large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InternVL3-InternViT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L14/28 (52 %)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+0.0193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text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mid-stack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LLaVA-1.5-CLIP-ViT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L16/32 (52 %)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+0.0188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text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mid-stack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ConvLLaVA-ConvNeXt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L16/32 (52 %)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+0.0224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text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mid-stack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Qwen2.5-VL-Qwen-ViT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L22/28 (82 %)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+0.0153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late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FastVLM-FastViT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L22/28 (82 %)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+0.0467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text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late + large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fig_peak_budget_de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463040"/>
            <a:ext cx="3657600" cy="1828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92440" y="333756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1">
                <a:solidFill>
                  <a:srgbClr val="666666"/>
                </a:solidFill>
                <a:latin typeface="Calibri"/>
              </a:rPr>
              <a:t>Budget decomposition at each peak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297680"/>
            <a:ext cx="10972800" cy="2194560"/>
          </a:xfrm>
          <a:prstGeom prst="rect">
            <a:avLst/>
          </a:prstGeom>
          <a:solidFill>
            <a:srgbClr val="E8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389120"/>
            <a:ext cx="10698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ambria"/>
              </a:rPr>
              <a:t>Two key 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00600"/>
            <a:ext cx="10698480" cy="1645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Calibri"/>
              </a:rPr>
              <a:t>•  Layer-averaged E1 numbers were HIDING a ~3× concentration at a single layer.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Calibri"/>
              </a:rPr>
              <a:t>•  Three encoder architectures (CLIP-ViT, InternViT, ConvNeXt) cluster at L14–16 with text-stealing budget — they form an architecture-blind MID-STACK CLUSTER. This is the highest-leverage E4 target.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333333"/>
                </a:solidFill>
                <a:latin typeface="Calibri"/>
              </a:rPr>
              <a:t>•  Two budget mechanisms exist: text-stealing (5/6) vs target-stealing (Qwen).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21295C"/>
                </a:solidFill>
                <a:latin typeface="Cambria"/>
              </a:rPr>
              <a:t>E1c — H3 falsified: ConvNeXt encoder ≠ less anchoring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Calibri"/>
              </a:rPr>
              <a:t>ConvLLaVA replicates LLaVA-1.5's per-layer attention signature exactly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9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mbria"/>
              </a:rPr>
              <a:t>ConvLLaVA (ConvNeXt encoder) vs LLaVA-1.5 (CLIP-ViT encoder)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874519"/>
          <a:ext cx="73152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352697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mbria"/>
                        </a:rPr>
                        <a:t>measure</a:t>
                      </a:r>
                    </a:p>
                  </a:txBody>
                  <a:tcPr marL="45720" marR="45720"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mbria"/>
                        </a:rPr>
                        <a:t>LLaVA-1.5 (CLIP-ViT)</a:t>
                      </a:r>
                    </a:p>
                  </a:txBody>
                  <a:tcPr marL="45720" marR="45720"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mbria"/>
                        </a:rPr>
                        <a:t>ConvLLaVA (ConvNeXt)</a:t>
                      </a:r>
                    </a:p>
                  </a:txBody>
                  <a:tcPr marL="45720" marR="45720"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mbria"/>
                        </a:rPr>
                        <a:t>verdict</a:t>
                      </a:r>
                    </a:p>
                  </a:txBody>
                  <a:tcPr marL="45720" marR="45720">
                    <a:solidFill>
                      <a:srgbClr val="065A82"/>
                    </a:solidFill>
                  </a:tcPr>
                </a:tc>
              </a:tr>
              <a:tr h="352697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Peak layer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L16 / 32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L16 / 32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match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</a:tr>
              <a:tr h="352697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Peak depth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52 %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52 %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match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352697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Peak δ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+0.0188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+0.0224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within 19 %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</a:tr>
              <a:tr h="352697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Budget source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text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text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match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352697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A7 susceptibility gap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+0.0097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+0.0126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within 30 %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</a:tr>
              <a:tr h="35269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Mechanism archetype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mid-stack text-stealing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mid-stack text-stealing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match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229600" y="1463040"/>
            <a:ext cx="3383280" cy="32004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60" y="155448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E8F0F4"/>
                </a:solidFill>
                <a:latin typeface="Cambria"/>
              </a:rPr>
              <a:t>What this kills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1965960"/>
            <a:ext cx="3200400" cy="2743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25000"/>
              </a:lnSpc>
            </a:pPr>
            <a:r>
              <a:rPr sz="1200">
                <a:solidFill>
                  <a:srgbClr val="E8F0F4"/>
                </a:solidFill>
                <a:latin typeface="Calibri"/>
              </a:rPr>
              <a:t>•  H3 ("Conv &lt; ViT") at adoption AND per-layer levels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E8F0F4"/>
                </a:solidFill>
                <a:latin typeface="Calibri"/>
              </a:rPr>
              <a:t>•  The originally-planned 'encoder ablation' paper subsection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E8F0F4"/>
                </a:solidFill>
                <a:latin typeface="Calibri"/>
              </a:rPr>
              <a:t>•  Frees compute for E5 / E7 instead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572000"/>
            <a:ext cx="10972800" cy="1828800"/>
          </a:xfrm>
          <a:prstGeom prst="rect">
            <a:avLst/>
          </a:prstGeom>
          <a:solidFill>
            <a:srgbClr val="E8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663440"/>
            <a:ext cx="10698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ambria"/>
              </a:rPr>
              <a:t>Replacement framing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074920"/>
            <a:ext cx="1069848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333333"/>
                </a:solidFill>
                <a:latin typeface="Calibri"/>
              </a:rPr>
              <a:t>Encoder ARCHITECTURE doesn't predict anchoring; post-projection LLM STACK DEPTH does. Three architecturally-distinct encoders converge to the same mid-stack text-stealing profile. Paper narrative shifts from "encoder modulates anchoring" to "depth-axis predicts the signature".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21295C"/>
                </a:solidFill>
                <a:latin typeface="Cambria"/>
              </a:rPr>
              <a:t>E1d — causal ablation: single-layer null, upper-half is the locus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Calibri"/>
              </a:rPr>
              <a:t>7 ablation modes × 6 models, n=200 each. The peak is correlational, not causal.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10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6858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mbria"/>
              </a:rPr>
              <a:t>Per-mode summary across 6-model panel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874519"/>
          <a:ext cx="6858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</a:tblGrid>
              <a:tr h="3810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mbria"/>
                        </a:rPr>
                        <a:t>ablation mode</a:t>
                      </a:r>
                    </a:p>
                  </a:txBody>
                  <a:tcPr marL="45720" marR="45720"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mbria"/>
                        </a:rPr>
                        <a:t>Δ direction_follow</a:t>
                      </a:r>
                    </a:p>
                  </a:txBody>
                  <a:tcPr marL="45720" marR="45720"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mbria"/>
                        </a:rPr>
                        <a:t>verdict</a:t>
                      </a:r>
                    </a:p>
                  </a:txBody>
                  <a:tcPr marL="45720" marR="45720">
                    <a:solidFill>
                      <a:srgbClr val="065A82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Single-layer at E1b peak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≤ ±3 pp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✗ null on 6/6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Single-layer at L0 (control)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≤ ±3 pp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✗ null on 6/6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Stack-wide ablation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−11 to −22 pp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but fluency 4-6× on 3/6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Lower-half ablation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+27 to +17 pp on 3/6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🔥 BACKFIRES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1295C"/>
                          </a:solidFill>
                          <a:latin typeface="Calibri"/>
                        </a:rPr>
                        <a:t>Upper-half ablation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1295C"/>
                          </a:solidFill>
                          <a:latin typeface="Calibri"/>
                        </a:rPr>
                        <a:t>−5.5 to −11.5 pp on 6/6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1295C"/>
                          </a:solidFill>
                          <a:latin typeface="Calibri"/>
                        </a:rPr>
                        <a:t>✓ fluency clean on 4/6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fig_direction_fol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463040"/>
            <a:ext cx="3931920" cy="2286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0" y="3794760"/>
            <a:ext cx="3931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1">
                <a:solidFill>
                  <a:srgbClr val="666666"/>
                </a:solidFill>
                <a:latin typeface="Calibri"/>
              </a:rPr>
              <a:t>Direction-follow Δ per ablation mode (6 models)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434840"/>
            <a:ext cx="10972800" cy="201168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526280"/>
            <a:ext cx="10698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E8F0F4"/>
                </a:solidFill>
                <a:latin typeface="Cambria"/>
              </a:rPr>
              <a:t>Causal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937760"/>
            <a:ext cx="1069848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E8F0F4"/>
                </a:solidFill>
                <a:latin typeface="Calibri"/>
              </a:rPr>
              <a:t>•  Per-layer peak from E1b is CORRELATIONAL — single-layer ablation does nothing.</a:t>
            </a:r>
          </a:p>
          <a:p>
            <a:pPr>
              <a:lnSpc>
                <a:spcPct val="120000"/>
              </a:lnSpc>
            </a:pPr>
            <a:r>
              <a:rPr sz="1200">
                <a:solidFill>
                  <a:srgbClr val="E8F0F4"/>
                </a:solidFill>
                <a:latin typeface="Calibri"/>
              </a:rPr>
              <a:t>•  Multi-layer redundancy: anchor signal is encoded across many layers.</a:t>
            </a:r>
          </a:p>
          <a:p>
            <a:pPr>
              <a:lnSpc>
                <a:spcPct val="120000"/>
              </a:lnSpc>
            </a:pPr>
            <a:r>
              <a:rPr sz="1200">
                <a:solidFill>
                  <a:srgbClr val="E8F0F4"/>
                </a:solidFill>
                <a:latin typeface="Calibri"/>
              </a:rPr>
              <a:t>•  Upper-half ablation = ARCHITECTURE-BLIND MITIGATION LOCUS — works on all 6 models, fluency-clean on the mid-stack cluster + Qwen.</a:t>
            </a:r>
          </a:p>
          <a:p>
            <a:pPr>
              <a:lnSpc>
                <a:spcPct val="120000"/>
              </a:lnSpc>
            </a:pPr>
            <a:r>
              <a:rPr sz="1200">
                <a:solidFill>
                  <a:srgbClr val="E8F0F4"/>
                </a:solidFill>
                <a:latin typeface="Calibri"/>
              </a:rPr>
              <a:t>•  Caveat: ConvLLaVA &amp; LLaVA-1.5 share peak/mechanism but respond OPPOSITE to lower-half (Δ = −0.12 vs +0.165). Same attention ≠ same causal structure.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21295C"/>
                </a:solidFill>
                <a:latin typeface="Cambria"/>
              </a:rPr>
              <a:t>E2 pilot — two failure modes are orthogonal: anchoring vs distraction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Calibri"/>
              </a:rPr>
              <a:t>11-model panel pilot (n=1,125 each); H6 hypothesis emerges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11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mbria"/>
              </a:rPr>
              <a:t>Two-axis bucketing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874519"/>
          <a:ext cx="5943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900"/>
                <a:gridCol w="1485900"/>
                <a:gridCol w="1485900"/>
                <a:gridCol w="1485900"/>
              </a:tblGrid>
              <a:tr h="3429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mbria"/>
                        </a:rPr>
                        <a:t>model</a:t>
                      </a:r>
                    </a:p>
                  </a:txBody>
                  <a:tcPr marL="45720" marR="45720"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mbria"/>
                        </a:rPr>
                        <a:t>adoption</a:t>
                      </a:r>
                    </a:p>
                  </a:txBody>
                  <a:tcPr marL="45720" marR="45720"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mbria"/>
                        </a:rPr>
                        <a:t>acc_drop(num)</a:t>
                      </a:r>
                    </a:p>
                  </a:txBody>
                  <a:tcPr marL="45720" marR="45720"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mbria"/>
                        </a:rPr>
                        <a:t>axis</a:t>
                      </a:r>
                    </a:p>
                  </a:txBody>
                  <a:tcPr marL="45720" marR="45720">
                    <a:solidFill>
                      <a:srgbClr val="065A82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LLaVA-1.5-7b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0.181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0.038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anchoring (high adopt, low drop)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qwen3-vl-8b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0.124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0.040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anchoring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gemma3-27b-it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0.141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−0.004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anchoring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ConvLLaVA-7b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0.156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0.121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BOTH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gemma4-e4b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0.123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0.012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anchoring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FastVLM-7b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0.090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0.188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distraction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1295C"/>
                          </a:solidFill>
                          <a:latin typeface="Calibri"/>
                        </a:rPr>
                        <a:t>InternVL3-8b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1295C"/>
                          </a:solidFill>
                          <a:latin typeface="Calibri"/>
                        </a:rPr>
                        <a:t>0.066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1295C"/>
                          </a:solidFill>
                          <a:latin typeface="Calibri"/>
                        </a:rPr>
                        <a:t>0.355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1295C"/>
                          </a:solidFill>
                          <a:latin typeface="Calibri"/>
                        </a:rPr>
                        <a:t>distraction (low adopt, high drop)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anchoring_effe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463040"/>
            <a:ext cx="4754880" cy="31089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949440" y="4617720"/>
            <a:ext cx="47548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1">
                <a:solidFill>
                  <a:srgbClr val="666666"/>
                </a:solidFill>
                <a:latin typeface="Calibri"/>
              </a:rPr>
              <a:t>Per-model anchoring effects (E2 pilot)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937760"/>
            <a:ext cx="6126480" cy="1554480"/>
          </a:xfrm>
          <a:prstGeom prst="rect">
            <a:avLst/>
          </a:prstGeom>
          <a:solidFill>
            <a:srgbClr val="E8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029200"/>
            <a:ext cx="5943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mbria"/>
              </a:rPr>
              <a:t>New hypothesis H6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440680"/>
            <a:ext cx="59436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333333"/>
                </a:solidFill>
                <a:latin typeface="Calibri"/>
              </a:rPr>
              <a:t>Cross-modal failures decompose into two ORTHOGONAL axes: anchor-pull (encoder-mediated) and multi-image distraction (architecture-mediated, hits accuracy without encoding the anchor). InternVL3 = pure distraction; LLaVA-1.5 = pure anchoring.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21295C"/>
                </a:solidFill>
                <a:latin typeface="Cambria"/>
              </a:rPr>
              <a:t>E4 — mitigation: soft attention re-weighting on upper-half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Calibri"/>
              </a:rPr>
              <a:t>Combines E1b (where) + E1d (causal locus) + E4 (soft strength axis)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12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548640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33333"/>
                </a:solidFill>
                <a:latin typeface="Calibri"/>
              </a:rPr>
              <a:t>•  E1d showed: only multi-layer upper-half intervention works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333333"/>
                </a:solidFill>
                <a:latin typeface="Calibri"/>
              </a:rPr>
              <a:t>•  E4 replaces hard mask with a soft strength axis:</a:t>
            </a:r>
          </a:p>
          <a:p>
            <a:pPr lvl="1">
              <a:lnSpc>
                <a:spcPct val="120000"/>
              </a:lnSpc>
            </a:pPr>
            <a:r>
              <a:rPr sz="1300">
                <a:solidFill>
                  <a:srgbClr val="333333"/>
                </a:solidFill>
                <a:latin typeface="Calibri"/>
              </a:rPr>
              <a:t>—  Forward pre-hook on each LLM decoder layer in [n/2, n)</a:t>
            </a:r>
          </a:p>
          <a:p>
            <a:pPr lvl="1">
              <a:lnSpc>
                <a:spcPct val="120000"/>
              </a:lnSpc>
            </a:pPr>
            <a:r>
              <a:rPr sz="1300">
                <a:solidFill>
                  <a:srgbClr val="333333"/>
                </a:solidFill>
                <a:latin typeface="Calibri"/>
              </a:rPr>
              <a:t>—  Adds `strength` to attention_mask columns at the anchor span</a:t>
            </a:r>
          </a:p>
          <a:p>
            <a:pPr lvl="1">
              <a:lnSpc>
                <a:spcPct val="120000"/>
              </a:lnSpc>
            </a:pPr>
            <a:r>
              <a:rPr sz="1300">
                <a:solidFill>
                  <a:srgbClr val="333333"/>
                </a:solidFill>
                <a:latin typeface="Calibri"/>
              </a:rPr>
              <a:t>—  Post-softmax: anchor attention multiplied by exp(strength)</a:t>
            </a:r>
          </a:p>
          <a:p>
            <a:pPr lvl="1">
              <a:lnSpc>
                <a:spcPct val="120000"/>
              </a:lnSpc>
            </a:pPr>
            <a:r>
              <a:rPr sz="1300">
                <a:solidFill>
                  <a:srgbClr val="333333"/>
                </a:solidFill>
                <a:latin typeface="Calibri"/>
              </a:rPr>
              <a:t>—  strength = 0 → multiplier 1 (no-op); strength = −∞ → 0 (E1d hard)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333333"/>
                </a:solidFill>
                <a:latin typeface="Calibri"/>
              </a:rPr>
              <a:t>•  Phase 1 sweep:</a:t>
            </a:r>
          </a:p>
          <a:p>
            <a:pPr lvl="1">
              <a:lnSpc>
                <a:spcPct val="120000"/>
              </a:lnSpc>
            </a:pPr>
            <a:r>
              <a:rPr sz="1300">
                <a:solidFill>
                  <a:srgbClr val="333333"/>
                </a:solidFill>
                <a:latin typeface="Calibri"/>
              </a:rPr>
              <a:t>—  n=200 stratified samples; 7 strengths × 3 conditions</a:t>
            </a:r>
          </a:p>
          <a:p>
            <a:pPr lvl="1">
              <a:lnSpc>
                <a:spcPct val="120000"/>
              </a:lnSpc>
            </a:pPr>
            <a:r>
              <a:rPr sz="1300">
                <a:solidFill>
                  <a:srgbClr val="333333"/>
                </a:solidFill>
                <a:latin typeface="Calibri"/>
              </a:rPr>
              <a:t>—  strength grid: [0, −0.5, −1, −2, −3, −5, −10⁴]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333333"/>
                </a:solidFill>
                <a:latin typeface="Calibri"/>
              </a:rPr>
              <a:t>•  Phase 2 full validation:</a:t>
            </a:r>
          </a:p>
          <a:p>
            <a:pPr lvl="1">
              <a:lnSpc>
                <a:spcPct val="120000"/>
              </a:lnSpc>
            </a:pPr>
            <a:r>
              <a:rPr sz="1300">
                <a:solidFill>
                  <a:srgbClr val="333333"/>
                </a:solidFill>
                <a:latin typeface="Calibri"/>
              </a:rPr>
              <a:t>—  n=17,730 × 5 anchors × 3 conds × 2 modes ≈ 88,650 records</a:t>
            </a:r>
          </a:p>
          <a:p>
            <a:pPr lvl="1">
              <a:lnSpc>
                <a:spcPct val="120000"/>
              </a:lnSpc>
            </a:pPr>
            <a:r>
              <a:rPr sz="1300">
                <a:solidFill>
                  <a:srgbClr val="333333"/>
                </a:solidFill>
                <a:latin typeface="Calibri"/>
              </a:rPr>
              <a:t>—  Resumable; runs on the chosen Phase-1 s* per 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463040"/>
            <a:ext cx="5212080" cy="21945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55448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E8F0F4"/>
                </a:solidFill>
                <a:latin typeface="Cambria"/>
              </a:rPr>
              <a:t>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965960"/>
            <a:ext cx="502920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E8F0F4"/>
                </a:solidFill>
                <a:latin typeface="Calibri"/>
              </a:rPr>
              <a:t>•  ≥ 10 % reduction in direction_follow_rate</a:t>
            </a:r>
          </a:p>
          <a:p>
            <a:pPr>
              <a:lnSpc>
                <a:spcPct val="120000"/>
              </a:lnSpc>
            </a:pPr>
            <a:r>
              <a:rPr sz="1200">
                <a:solidFill>
                  <a:srgbClr val="E8F0F4"/>
                </a:solidFill>
                <a:latin typeface="Calibri"/>
              </a:rPr>
              <a:t>•  ≤ 2 pp drop in standard VQA accuracy</a:t>
            </a:r>
          </a:p>
          <a:p>
            <a:pPr>
              <a:lnSpc>
                <a:spcPct val="120000"/>
              </a:lnSpc>
            </a:pPr>
            <a:r>
              <a:rPr sz="1200">
                <a:solidFill>
                  <a:srgbClr val="E8F0F4"/>
                </a:solidFill>
                <a:latin typeface="Calibri"/>
              </a:rPr>
              <a:t>•  Hook should be no-op on target_only (sanity check)</a:t>
            </a:r>
          </a:p>
          <a:p>
            <a:pPr>
              <a:lnSpc>
                <a:spcPct val="120000"/>
              </a:lnSpc>
            </a:pPr>
            <a:r>
              <a:rPr sz="1200">
                <a:solidFill>
                  <a:srgbClr val="E8F0F4"/>
                </a:solidFill>
                <a:latin typeface="Calibri"/>
              </a:rPr>
              <a:t>•  Mid-stack cluster: LLaVA-1.5, ConvLLaVA, InternVL3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3840480"/>
            <a:ext cx="5212080" cy="2468880"/>
          </a:xfrm>
          <a:prstGeom prst="rect">
            <a:avLst/>
          </a:prstGeom>
          <a:solidFill>
            <a:srgbClr val="E8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393192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mbria"/>
              </a:rPr>
              <a:t>Strength selection rule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4343400"/>
            <a:ext cx="502920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333333"/>
                </a:solidFill>
                <a:latin typeface="Calibri"/>
              </a:rPr>
              <a:t>Among strengths satisfying both targets, pick the smallest |s|.
If none qualify → escalate to ablate_upper_quarter [3n/4, n).
Per-model selection (NOT a single shared strength) — see Slide 13.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21295C"/>
                </a:solidFill>
                <a:latin typeface="Cambria"/>
              </a:rPr>
              <a:t>E4 Phase 1 sweep — all 3 mid-stack models meet target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Calibri"/>
              </a:rPr>
              <a:t>n=200 stratified per model, 7 strengths × 3 conditions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13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mbria"/>
              </a:rPr>
              <a:t>Phase 1 cross-model summary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828800"/>
          <a:ext cx="73152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mbria"/>
                        </a:rPr>
                        <a:t>model</a:t>
                      </a:r>
                    </a:p>
                  </a:txBody>
                  <a:tcPr marL="45720" marR="45720"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mbria"/>
                        </a:rPr>
                        <a:t>n_layers</a:t>
                      </a:r>
                    </a:p>
                  </a:txBody>
                  <a:tcPr marL="45720" marR="45720"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mbria"/>
                        </a:rPr>
                        <a:t>upper-half</a:t>
                      </a:r>
                    </a:p>
                  </a:txBody>
                  <a:tcPr marL="45720" marR="45720"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mbria"/>
                        </a:rPr>
                        <a:t>df₀</a:t>
                      </a:r>
                    </a:p>
                  </a:txBody>
                  <a:tcPr marL="45720" marR="45720"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mbria"/>
                        </a:rPr>
                        <a:t>s*</a:t>
                      </a:r>
                    </a:p>
                  </a:txBody>
                  <a:tcPr marL="45720" marR="45720"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mbria"/>
                        </a:rPr>
                        <a:t>df at s*</a:t>
                      </a:r>
                    </a:p>
                  </a:txBody>
                  <a:tcPr marL="45720" marR="45720"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mbria"/>
                        </a:rPr>
                        <a:t>Δ rel</a:t>
                      </a:r>
                    </a:p>
                  </a:txBody>
                  <a:tcPr marL="45720" marR="45720"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mbria"/>
                        </a:rPr>
                        <a:t>Δ em</a:t>
                      </a:r>
                    </a:p>
                  </a:txBody>
                  <a:tcPr marL="45720" marR="45720">
                    <a:solidFill>
                      <a:srgbClr val="065A8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llava-1.5-7b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16..31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0.305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1295C"/>
                          </a:solidFill>
                          <a:latin typeface="Calibri"/>
                        </a:rPr>
                        <a:t>−3.0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0.265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1295C"/>
                          </a:solidFill>
                          <a:latin typeface="Calibri"/>
                        </a:rPr>
                        <a:t>−13 %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+0.5 pp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convllava-7b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16..31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0.290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1295C"/>
                          </a:solidFill>
                          <a:latin typeface="Calibri"/>
                        </a:rPr>
                        <a:t>−2.0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0.260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1295C"/>
                          </a:solidFill>
                          <a:latin typeface="Calibri"/>
                        </a:rPr>
                        <a:t>−10 %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+0.0 pp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internvl3-8b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14..27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0.161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1295C"/>
                          </a:solidFill>
                          <a:latin typeface="Calibri"/>
                        </a:rPr>
                        <a:t>−0.5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0.132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1295C"/>
                          </a:solidFill>
                          <a:latin typeface="Calibri"/>
                        </a:rPr>
                        <a:t>−17.7 %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+1.9 pp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sweep_pa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417320"/>
            <a:ext cx="3657600" cy="1463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92440" y="292608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1">
                <a:solidFill>
                  <a:srgbClr val="666666"/>
                </a:solidFill>
                <a:latin typeface="Calibri"/>
              </a:rPr>
              <a:t>Strength-axis Pareto (df ↓ vs em →)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520440"/>
            <a:ext cx="10972800" cy="2926080"/>
          </a:xfrm>
          <a:prstGeom prst="rect">
            <a:avLst/>
          </a:prstGeom>
          <a:solidFill>
            <a:srgbClr val="E8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611880"/>
            <a:ext cx="10698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ambria"/>
              </a:rPr>
              <a:t>Three Phase-1 findings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023360"/>
            <a:ext cx="10698480" cy="2377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333333"/>
                </a:solidFill>
                <a:latin typeface="Calibri"/>
              </a:rPr>
              <a:t>•  s* ranges from −0.5 (InternVL3) to −3.0 (LLaVA-1.5) — an order of magnitude apart. Single shared strength would over/under-mitigate.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333333"/>
                </a:solidFill>
                <a:latin typeface="Calibri"/>
              </a:rPr>
              <a:t>•  Mitigation effect ANTI-CORRELATED with baseline anchor-pull on df: InternVL3 (lowest df₀) shows LARGEST drop (−61 % at saturation).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333333"/>
                </a:solidFill>
                <a:latin typeface="Calibri"/>
              </a:rPr>
              <a:t>•  Strength-axis monotonicity is robust on all 3 models — no U-shape disasters where over-mitigation tips into hallucination.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333333"/>
                </a:solidFill>
                <a:latin typeface="Calibri"/>
              </a:rPr>
              <a:t>•  em(target_only) invariant on every model, every strength → hook is anchor-condition-specific by construction (sanity confirmed).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21295C"/>
                </a:solidFill>
                <a:latin typeface="Cambria"/>
              </a:rPr>
              <a:t>E4 Phase 2 — replication at full scale (88,650 records each)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Calibri"/>
              </a:rPr>
              <a:t>Phase 1 prediction confirmed within 0.3 pp on relative df reduction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14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mbria"/>
              </a:rPr>
              <a:t>Phase 2 baseline vs treated comparison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828800"/>
          <a:ext cx="10972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  <a:gridCol w="1219200"/>
                <a:gridCol w="1219200"/>
                <a:gridCol w="1219200"/>
                <a:gridCol w="1219200"/>
              </a:tblGrid>
              <a:tr h="3886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mbria"/>
                        </a:rPr>
                        <a:t>model</a:t>
                      </a:r>
                    </a:p>
                  </a:txBody>
                  <a:tcPr marL="45720" marR="45720"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mbria"/>
                        </a:rPr>
                        <a:t>s*</a:t>
                      </a:r>
                    </a:p>
                  </a:txBody>
                  <a:tcPr marL="45720" marR="45720"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mbria"/>
                        </a:rPr>
                        <a:t>df₀</a:t>
                      </a:r>
                    </a:p>
                  </a:txBody>
                  <a:tcPr marL="45720" marR="45720"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mbria"/>
                        </a:rPr>
                        <a:t>df treated</a:t>
                      </a:r>
                    </a:p>
                  </a:txBody>
                  <a:tcPr marL="45720" marR="45720"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mbria"/>
                        </a:rPr>
                        <a:t>Δ df</a:t>
                      </a:r>
                    </a:p>
                  </a:txBody>
                  <a:tcPr marL="45720" marR="45720"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mbria"/>
                        </a:rPr>
                        <a:t>Δ rel</a:t>
                      </a:r>
                    </a:p>
                  </a:txBody>
                  <a:tcPr marL="45720" marR="45720"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mbria"/>
                        </a:rPr>
                        <a:t>em (0 → s*)</a:t>
                      </a:r>
                    </a:p>
                  </a:txBody>
                  <a:tcPr marL="45720" marR="45720"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mbria"/>
                        </a:rPr>
                        <a:t>Δ em</a:t>
                      </a:r>
                    </a:p>
                  </a:txBody>
                  <a:tcPr marL="45720" marR="45720"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mbria"/>
                        </a:rPr>
                        <a:t>% complete</a:t>
                      </a:r>
                    </a:p>
                  </a:txBody>
                  <a:tcPr marL="45720" marR="45720">
                    <a:solidFill>
                      <a:srgbClr val="065A82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llava-1.5-7b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−3.0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0.2578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0.2122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1295C"/>
                          </a:solidFill>
                          <a:latin typeface="Calibri"/>
                        </a:rPr>
                        <a:t>−4.55 pp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1295C"/>
                          </a:solidFill>
                          <a:latin typeface="Calibri"/>
                        </a:rPr>
                        <a:t>−17.7 %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0.3340 → 0.3418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+0.77 pp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100 %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convllava-7b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−2.0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0.2283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0.2042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1295C"/>
                          </a:solidFill>
                          <a:latin typeface="Calibri"/>
                        </a:rPr>
                        <a:t>−2.42 pp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1295C"/>
                          </a:solidFill>
                          <a:latin typeface="Calibri"/>
                        </a:rPr>
                        <a:t>−10.6 %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0.3522 → 0.3652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+1.30 pp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100 %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internvl3-8b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−0.5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(in flight)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~50 %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40080" y="3611880"/>
            <a:ext cx="5394960" cy="2834640"/>
          </a:xfrm>
          <a:prstGeom prst="rect">
            <a:avLst/>
          </a:prstGeom>
          <a:solidFill>
            <a:srgbClr val="E8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703320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mbria"/>
              </a:rPr>
              <a:t>Replication tightness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14800"/>
            <a:ext cx="521208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333333"/>
                </a:solidFill>
                <a:latin typeface="Calibri"/>
              </a:rPr>
              <a:t>•  LLaVA: Phase 1 sweep predicted −17.7 %; Phase 2 measured −17.7 %</a:t>
            </a:r>
          </a:p>
          <a:p>
            <a:pPr>
              <a:lnSpc>
                <a:spcPct val="120000"/>
              </a:lnSpc>
            </a:pPr>
            <a:r>
              <a:rPr sz="1200">
                <a:solidFill>
                  <a:srgbClr val="333333"/>
                </a:solidFill>
                <a:latin typeface="Calibri"/>
              </a:rPr>
              <a:t>•  ConvLLaVA: Phase 1 sweep predicted −10.3 %; Phase 2 measured −10.6 %</a:t>
            </a:r>
          </a:p>
          <a:p>
            <a:pPr>
              <a:lnSpc>
                <a:spcPct val="120000"/>
              </a:lnSpc>
            </a:pPr>
            <a:r>
              <a:rPr sz="1200">
                <a:solidFill>
                  <a:srgbClr val="333333"/>
                </a:solidFill>
                <a:latin typeface="Calibri"/>
              </a:rPr>
              <a:t>•  Both within 0.3 pp on relative df; CIs ~10× narrower than Phase 1</a:t>
            </a:r>
          </a:p>
          <a:p>
            <a:pPr>
              <a:lnSpc>
                <a:spcPct val="120000"/>
              </a:lnSpc>
            </a:pPr>
            <a:r>
              <a:rPr sz="1200">
                <a:solidFill>
                  <a:srgbClr val="333333"/>
                </a:solidFill>
                <a:latin typeface="Calibri"/>
              </a:rPr>
              <a:t>•  em rises on BOTH (+0.77 / +1.30 pp) — accuracy improved, not just preserved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3611880"/>
            <a:ext cx="5394960" cy="283464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3703320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E8F0F4"/>
                </a:solidFill>
                <a:latin typeface="Cambria"/>
              </a:rPr>
              <a:t>Caveats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4114800"/>
            <a:ext cx="521208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20000"/>
              </a:lnSpc>
            </a:pPr>
            <a:r>
              <a:rPr sz="1100">
                <a:solidFill>
                  <a:srgbClr val="E8F0F4"/>
                </a:solidFill>
                <a:latin typeface="Calibri"/>
              </a:rPr>
              <a:t>•  ConvLLaVA fluency tail at full scale: mean_dist 2.99 → 53.54 (small fraction of broken outputs; em still rises, df is per-pair and robust). For the paper: report MEDIAN distance + degraded fraction.</a:t>
            </a:r>
          </a:p>
          <a:p>
            <a:pPr>
              <a:lnSpc>
                <a:spcPct val="120000"/>
              </a:lnSpc>
            </a:pPr>
            <a:r>
              <a:rPr sz="1100">
                <a:solidFill>
                  <a:srgbClr val="E8F0F4"/>
                </a:solidFill>
                <a:latin typeface="Calibri"/>
              </a:rPr>
              <a:t>•  InternVL3 Phase 2 will not finish in this session (rate 0.29 sample/s, ETA ~10 h remaining). Continues next session.</a:t>
            </a:r>
          </a:p>
          <a:p>
            <a:pPr>
              <a:lnSpc>
                <a:spcPct val="120000"/>
              </a:lnSpc>
            </a:pPr>
            <a:r>
              <a:rPr sz="1100">
                <a:solidFill>
                  <a:srgbClr val="E8F0F4"/>
                </a:solidFill>
                <a:latin typeface="Calibri"/>
              </a:rPr>
              <a:t>•  InternVL3 needs the driver patch (max_new_tokens 8 → 32) BEFORE the run is reported — patch already applied to disk.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21295C"/>
                </a:solidFill>
                <a:latin typeface="Cambria"/>
              </a:rPr>
              <a:t>Reframing — anchor damages accuracy; mitigation partially recovers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Calibri"/>
              </a:rPr>
              <a:t>Paired analysis on intersection of valid samples; em(target_only) = ceiling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15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mbria"/>
              </a:rPr>
              <a:t>Phase 2 paired anchor-damage (full set)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828800"/>
          <a:ext cx="109728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mbria"/>
                        </a:rPr>
                        <a:t>model</a:t>
                      </a:r>
                    </a:p>
                  </a:txBody>
                  <a:tcPr marL="45720" marR="45720"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mbria"/>
                        </a:rPr>
                        <a:t>n_paired</a:t>
                      </a:r>
                    </a:p>
                  </a:txBody>
                  <a:tcPr marL="45720" marR="45720"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mbria"/>
                        </a:rPr>
                        <a:t>em(TO)</a:t>
                      </a:r>
                    </a:p>
                  </a:txBody>
                  <a:tcPr marL="45720" marR="45720"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mbria"/>
                        </a:rPr>
                        <a:t>em(num@0)</a:t>
                      </a:r>
                    </a:p>
                  </a:txBody>
                  <a:tcPr marL="45720" marR="45720"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mbria"/>
                        </a:rPr>
                        <a:t>anchor damage</a:t>
                      </a:r>
                    </a:p>
                  </a:txBody>
                  <a:tcPr marL="45720" marR="45720"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mbria"/>
                        </a:rPr>
                        <a:t>em(num@s*)</a:t>
                      </a:r>
                    </a:p>
                  </a:txBody>
                  <a:tcPr marL="45720" marR="45720"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mbria"/>
                        </a:rPr>
                        <a:t>recovery</a:t>
                      </a:r>
                    </a:p>
                  </a:txBody>
                  <a:tcPr marL="45720" marR="45720"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mbria"/>
                        </a:rPr>
                        <a:t>% damage recovered</a:t>
                      </a:r>
                    </a:p>
                  </a:txBody>
                  <a:tcPr marL="45720" marR="45720">
                    <a:solidFill>
                      <a:srgbClr val="065A8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llava-1.5-7b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17,724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0.3696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0.3340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1295C"/>
                          </a:solidFill>
                          <a:latin typeface="Calibri"/>
                        </a:rPr>
                        <a:t>−3.55 pp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0.3417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+0.77 pp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1295C"/>
                          </a:solidFill>
                          <a:latin typeface="Calibri"/>
                        </a:rPr>
                        <a:t>21.7 %</a:t>
                      </a:r>
                    </a:p>
                  </a:txBody>
                  <a:tcPr marL="45720" marR="45720">
                    <a:solidFill>
                      <a:srgbClr val="E8F0F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convllava-7b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17,722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0.4454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0.3520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1295C"/>
                          </a:solidFill>
                          <a:latin typeface="Calibri"/>
                        </a:rPr>
                        <a:t>−9.34 pp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0.3651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+1.31 pp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1295C"/>
                          </a:solidFill>
                          <a:latin typeface="Calibri"/>
                        </a:rPr>
                        <a:t>14.0 %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40080" y="3474720"/>
            <a:ext cx="10972800" cy="3017520"/>
          </a:xfrm>
          <a:prstGeom prst="rect">
            <a:avLst/>
          </a:prstGeom>
          <a:solidFill>
            <a:srgbClr val="E8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566160"/>
            <a:ext cx="10698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ambria"/>
              </a:rPr>
              <a:t>Sharper paper claim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77639"/>
            <a:ext cx="106984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333333"/>
                </a:solidFill>
                <a:latin typeface="Calibri"/>
              </a:rPr>
              <a:t>The anchor demonstrably DAMAGES accuracy (em drops 3.5–9.3 pp from the un-anchored ceiling). Upper-half attention re-weighting RECOVERS 14–22 % of that damage at the safe working point s*.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mbria"/>
              </a:rPr>
              <a:t>Why it's strong: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349240"/>
            <a:ext cx="1069848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333333"/>
                </a:solidFill>
                <a:latin typeface="Calibri"/>
              </a:rPr>
              <a:t>•  Both df-axis (mechanism) AND em-axis (functional) signals agree on the locus</a:t>
            </a:r>
          </a:p>
          <a:p>
            <a:pPr>
              <a:lnSpc>
                <a:spcPct val="120000"/>
              </a:lnSpc>
            </a:pPr>
            <a:r>
              <a:rPr sz="1200">
                <a:solidFill>
                  <a:srgbClr val="333333"/>
                </a:solidFill>
                <a:latin typeface="Calibri"/>
              </a:rPr>
              <a:t>•  Recovery ratio is similar across models (14–22 %) → not a single-model artefact</a:t>
            </a:r>
          </a:p>
          <a:p>
            <a:pPr>
              <a:lnSpc>
                <a:spcPct val="120000"/>
              </a:lnSpc>
            </a:pPr>
            <a:r>
              <a:rPr sz="1200">
                <a:solidFill>
                  <a:srgbClr val="333333"/>
                </a:solidFill>
                <a:latin typeface="Calibri"/>
              </a:rPr>
              <a:t>•  The mitigation is causal (single-layer null in E1d rules out correlation alone)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Summary — current state of the paper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E8F0F4"/>
                </a:solidFill>
                <a:latin typeface="Calibri"/>
              </a:rPr>
              <a:t>Single-claim arc: notice → modulate → mechanism → mitigate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E8F0F4"/>
                </a:solidFill>
                <a:latin typeface="Cambria"/>
              </a:rPr>
              <a:t>Strong, paper-ready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97280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25000"/>
              </a:lnSpc>
            </a:pPr>
            <a:r>
              <a:rPr sz="1400">
                <a:solidFill>
                  <a:srgbClr val="E8F0F4"/>
                </a:solidFill>
                <a:latin typeface="Calibri"/>
              </a:rPr>
              <a:t>•  A1: anchoring is uncertainty-modulated GRADED PULL (+7 to +20 pp on 7/7 models)</a:t>
            </a:r>
          </a:p>
          <a:p>
            <a:pPr>
              <a:lnSpc>
                <a:spcPct val="125000"/>
              </a:lnSpc>
            </a:pPr>
            <a:r>
              <a:rPr sz="1400">
                <a:solidFill>
                  <a:srgbClr val="E8F0F4"/>
                </a:solidFill>
                <a:latin typeface="Calibri"/>
              </a:rPr>
              <a:t>•  E1+E1b+E1c: anchor attention concentrates at family-specific peak; ConvNeXt = CLIP-ViT (H3 dead, depth-axis replaces it)</a:t>
            </a:r>
          </a:p>
          <a:p>
            <a:pPr>
              <a:lnSpc>
                <a:spcPct val="125000"/>
              </a:lnSpc>
            </a:pPr>
            <a:r>
              <a:rPr sz="1400">
                <a:solidFill>
                  <a:srgbClr val="E8F0F4"/>
                </a:solidFill>
                <a:latin typeface="Calibri"/>
              </a:rPr>
              <a:t>•  E1d: single-layer null + upper-half is the architecture-blind causal locus</a:t>
            </a:r>
          </a:p>
          <a:p>
            <a:pPr>
              <a:lnSpc>
                <a:spcPct val="125000"/>
              </a:lnSpc>
            </a:pPr>
            <a:r>
              <a:rPr sz="1400">
                <a:solidFill>
                  <a:srgbClr val="E8F0F4"/>
                </a:solidFill>
                <a:latin typeface="Calibri"/>
              </a:rPr>
              <a:t>•  E4 Phase 2: −17.7 % (LLaVA) and −10.6 % (ConvLLaVA) df reduction with em IMPROVED, replicates Phase 1 within 0.3 pp</a:t>
            </a:r>
          </a:p>
          <a:p>
            <a:pPr>
              <a:lnSpc>
                <a:spcPct val="125000"/>
              </a:lnSpc>
            </a:pPr>
            <a:r>
              <a:rPr sz="1400">
                <a:solidFill>
                  <a:srgbClr val="E8F0F4"/>
                </a:solidFill>
                <a:latin typeface="Calibri"/>
              </a:rPr>
              <a:t>•  E2 pilot H6: anchoring vs distraction are orthogonal failure modes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262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E8F0F4"/>
                </a:solidFill>
                <a:latin typeface="Cambria"/>
              </a:rPr>
              <a:t>Open questions / next session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892040"/>
            <a:ext cx="1097280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25000"/>
              </a:lnSpc>
            </a:pPr>
            <a:r>
              <a:rPr sz="1400">
                <a:solidFill>
                  <a:srgbClr val="E8F0F4"/>
                </a:solidFill>
                <a:latin typeface="Calibri"/>
              </a:rPr>
              <a:t>•  Finish InternVL3 Phase 2 with patched driver (max_new_tokens=32)</a:t>
            </a:r>
          </a:p>
          <a:p>
            <a:pPr>
              <a:lnSpc>
                <a:spcPct val="125000"/>
              </a:lnSpc>
            </a:pPr>
            <a:r>
              <a:rPr sz="1400">
                <a:solidFill>
                  <a:srgbClr val="E8F0F4"/>
                </a:solidFill>
                <a:latin typeface="Calibri"/>
              </a:rPr>
              <a:t>•  Per-stratum: does mitigation concentrate on top-decile susceptible items?</a:t>
            </a:r>
          </a:p>
          <a:p>
            <a:pPr>
              <a:lnSpc>
                <a:spcPct val="125000"/>
              </a:lnSpc>
            </a:pPr>
            <a:r>
              <a:rPr sz="1400">
                <a:solidFill>
                  <a:srgbClr val="E8F0F4"/>
                </a:solidFill>
                <a:latin typeface="Calibri"/>
              </a:rPr>
              <a:t>•  ConvLLaVA fluency tail decomposition (median + degraded-fraction)</a:t>
            </a:r>
          </a:p>
          <a:p>
            <a:pPr>
              <a:lnSpc>
                <a:spcPct val="125000"/>
              </a:lnSpc>
            </a:pPr>
            <a:r>
              <a:rPr sz="1400">
                <a:solidFill>
                  <a:srgbClr val="E8F0F4"/>
                </a:solidFill>
                <a:latin typeface="Calibri"/>
              </a:rPr>
              <a:t>•  E5 multi-dataset (TallyQA, ChartQA) and E7 paraphrase robustness</a:t>
            </a:r>
          </a:p>
          <a:p>
            <a:pPr>
              <a:lnSpc>
                <a:spcPct val="125000"/>
              </a:lnSpc>
            </a:pPr>
            <a:r>
              <a:rPr sz="1400">
                <a:solidFill>
                  <a:srgbClr val="E8F0F4"/>
                </a:solidFill>
                <a:latin typeface="Calibri"/>
              </a:rPr>
              <a:t>•  E6 closed-model subset (GPT-4o / Gemini-2.5) to defuse 'open-only' reviewer complaint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